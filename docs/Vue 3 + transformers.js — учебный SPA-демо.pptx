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Открытие: презентация учебного SPA-демо Vue 3 + transformers.js.
 • Что это: нейросети (детектор, переводчик) прямо в браузере без бэкенда.
 • Почему интересно: Composition API, Pinia, Transition на живом примере.
 • Покрытие деки: стек, экраны, новые фичи ветки solutions, документация.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Дека объясняет, зачем нужен ещё один учебный проект по Vue 3.
 • Три опоры: проблема (нет цельного примера), решение (SPA + 2 демо), аудитория.
 • Дальше — пошаговый проход по экранам и новым фичам ветки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Стек намеренно минимальный: нет TypeScript, нет UI-библиотеки.
 • Архитектура вокруг двух узлов: usePipeline (ML) и DemoPage (UI-вкладки).
 • 4 стора Pinia: demoStore, progress, history, theme.
 • ML-операции кэшируются в IndexedDB — после первой загрузки работает офлайн.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Пользователь проходит три страницы: Хаб → Детектор → Переводчик.
 • Сайдбар общий для всех страниц: навигация, прогресс, активная модель.
 • KeepAlive сохраняет состояние детектора при переключении вкладок.
 • localStorage хранит прогресс изучения между сессиями.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Хаб — это landing-страница, с неё стартует пользователь.
 — 9 категорий технологий: ядро, реактивность, анимации, композаблы, рендеринг, формы, Canvas/Web API, Pinia, CSS.
 — Сайдбар с прогрессом изучения — общий для всех трёх страниц.
 — Прогресс хранится в localStorage, есть кнопка «Сбросить прогресс».
 — Тёмная тема включается по prefers-color-scheme, переключается 🌙/☀️.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Детектор — самая насыщенная по UI страница.
 — Шторка «до/после» (clip-path: inset) — главный визуальный приём.
 — Переключатель EN/RU меняет названия классов и язык speechSynthesis.
 — При drag-and-drop перестановке цвет боксов на canvas меняется вместе с порядком.
 — Степпер 3 стадии: Загрузка → Детекция → Готово, анимирован через Transition mode=out-in.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Шесть фич — это визитная карточка ветки solutions.
 — Скелетоны (skeleton-shimmer) и шторка до/после — главные визуальные приёмы.
 — Shift+клик по боксу открывает color picker, цвет применяется ко всему классу.
 — Drag-and-drop меняет порядок, и вместе с ним — цвет боксов на canvas.
 — EN/RU переключает coco-метки и язык speechSynthesis.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— Вкладка «Как это работает» — это и обучающий материал, и лаунчер демо.
 — 7 секций: Модель, Классы COCO, Ограничения, Что хорошо, Что плохо, Эксперименты, Викторина.
 — 6 переиспользуемых компонентов рендерятся через &lt;component :is&gt;.
 — Клик по карточке галереи → автопереход на демо и автозагрузка изображения.
 — KeepAlive сохраняет состояние детектора при переключении вкладок Демо/Как это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Переводчик грузит две модели MarianMT параллельно — ru→en и en→ru.
- SVG-кольцо заменяет текст «35 / 500» и меняет цвет по порогам.
- Toast-уведомление реализовано через Teleport to=«body».
- История хранит последние 5 уникальных переводов в Pinia.
- «Очистить» появляется только когда есть текст, для длинных — confirm().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SVG-кольцо — визуальная подпись счётчика символов.
- Toast через Teleport to=«body» — архитектурная фишка вне DOM-дерева.
- Две модели opus-mt грузятся параллельно при открытии страницы.
- Swap ⇄ переставляет поля и переключает активную модель.
- Безопасная очистка с подтверждением для длинных текстов.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Вкладка «Как это работает» учит архитектуре MarianMT.
- Примеры с цветными тегами помогают почувствовать сильные и слабые стороны модели.
- Клик по карточке примера автозапускает перевод в демо-вкладке.
- Викторина из 3 вопросов, прогресс сохраняется в Pinia.
- KeepAlive сохраняет состояние демо между переключениями вкладок.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Шесть файлов документации: README, HOWTO, TODO, HOWTODO, NEW_FEATURES, HOWTO_NEW_FEATURES.
- HOWTODO.md — только для преподавателя, эталонные решения.
- 16 задач в TODO.md — учебные задания для студентов.
- После кэширования моделей проект работает офлайн.
- Готов ответить на вопросы по коду и архитектуре.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375" y="-100012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75" y="-1000125"/>
            <a:ext cx="4000500" cy="4000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2571750"/>
            <a:ext cx="3714750" cy="3714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1143000" y="2571750"/>
            <a:ext cx="37147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0050"/>
            <a:ext cx="28575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45005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DEMO DECK · SOLUTIONS · 2025</a:t>
            </a:r>
            <a:endParaRPr lang="en-US" sz="8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52923"/>
            <a:ext cx="257175" cy="2143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7200" y="2117229"/>
            <a:ext cx="5154930" cy="113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31"/>
              </a:lnSpc>
              <a:buNone/>
            </a:pPr>
            <a:r>
              <a:rPr lang="en-US" sz="4050" b="1" spc="-101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Vue 3 +</a:t>
            </a:r>
            <a:endParaRPr lang="en-US" sz="4050" dirty="0"/>
          </a:p>
          <a:p>
            <a:pPr algn="l" indent="0" marL="0">
              <a:lnSpc>
                <a:spcPts val="4131"/>
              </a:lnSpc>
              <a:buNone/>
            </a:pPr>
            <a:r>
              <a:rPr lang="en-US" sz="4050" b="1" spc="-101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transformers.js</a:t>
            </a:r>
            <a:endParaRPr lang="en-US" sz="4050" dirty="0"/>
          </a:p>
        </p:txBody>
      </p:sp>
      <p:sp>
        <p:nvSpPr>
          <p:cNvPr id="10" name="Text 4"/>
          <p:cNvSpPr/>
          <p:nvPr/>
        </p:nvSpPr>
        <p:spPr>
          <a:xfrm>
            <a:off x="457200" y="3295055"/>
            <a:ext cx="4686300" cy="51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spc="-16" kern="0" dirty="0">
                <a:solidFill>
                  <a:srgbClr val="42B88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SPA-демо:</a:t>
            </a:r>
            <a:endParaRPr lang="en-US" sz="1575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575" spc="-16" kern="0" dirty="0">
                <a:solidFill>
                  <a:srgbClr val="42B88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нейросети прямо в браузере</a:t>
            </a:r>
            <a:endParaRPr lang="en-US" sz="1575" dirty="0"/>
          </a:p>
        </p:txBody>
      </p:sp>
      <p:sp>
        <p:nvSpPr>
          <p:cNvPr id="11" name="Text 5"/>
          <p:cNvSpPr/>
          <p:nvPr/>
        </p:nvSpPr>
        <p:spPr>
          <a:xfrm>
            <a:off x="457200" y="3875038"/>
            <a:ext cx="46863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сервера. Без TypeScript. На чистом Composition API.</a:t>
            </a:r>
            <a:endParaRPr lang="en-US" sz="1013" dirty="0"/>
          </a:p>
        </p:txBody>
      </p:sp>
      <p:sp>
        <p:nvSpPr>
          <p:cNvPr id="12" name="Text 6"/>
          <p:cNvSpPr/>
          <p:nvPr/>
        </p:nvSpPr>
        <p:spPr>
          <a:xfrm>
            <a:off x="457200" y="4267944"/>
            <a:ext cx="4920615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Версия: solutions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457200" y="4426446"/>
            <a:ext cx="5061204" cy="131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Стек: Vite 6 · Vue 3.5 · Pinia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457200" y="4584948"/>
            <a:ext cx="4920615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Модели: 3 · 384 МБ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5400675" y="1568946"/>
            <a:ext cx="3286125" cy="2005608"/>
          </a:xfrm>
          <a:prstGeom prst="roundRect">
            <a:avLst>
              <a:gd name="adj" fmla="val 47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94A3B8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5400675" y="1568946"/>
            <a:ext cx="3286125" cy="15716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5472113" y="1618952"/>
            <a:ext cx="57150" cy="57150"/>
          </a:xfrm>
          <a:prstGeom prst="ellipse">
            <a:avLst/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5564981" y="1618952"/>
            <a:ext cx="57150" cy="57150"/>
          </a:xfrm>
          <a:prstGeom prst="ellipse">
            <a:avLst/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5657850" y="1618952"/>
            <a:ext cx="57150" cy="57150"/>
          </a:xfrm>
          <a:prstGeom prst="ellipse">
            <a:avLst/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822156" y="1579662"/>
            <a:ext cx="2793206" cy="135731"/>
          </a:xfrm>
          <a:prstGeom prst="roundRect">
            <a:avLst>
              <a:gd name="adj" fmla="val 280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5822156" y="1579662"/>
            <a:ext cx="27932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localhost:5173</a:t>
            </a:r>
            <a:endParaRPr lang="en-US" sz="800" dirty="0"/>
          </a:p>
        </p:txBody>
      </p:sp>
      <p:pic>
        <p:nvPicPr>
          <p:cNvPr id="22" name="Image 4" descr="/tmp/h2p-fit-1792022056406-rweke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675" y="1726109"/>
            <a:ext cx="3286125" cy="184844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5149215" y="603004"/>
            <a:ext cx="968045" cy="212027"/>
          </a:xfrm>
          <a:prstGeom prst="roundRect">
            <a:avLst>
              <a:gd name="adj" fmla="val 4487860"/>
            </a:avLst>
          </a:prstGeom>
          <a:solidFill>
            <a:srgbClr val="42B883">
              <a:alpha val="12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5379244" y="657225"/>
            <a:ext cx="63657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42B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COMPOSITION API</a:t>
            </a:r>
            <a:endParaRPr lang="en-US" sz="619" dirty="0"/>
          </a:p>
        </p:txBody>
      </p:sp>
      <p:sp>
        <p:nvSpPr>
          <p:cNvPr id="26" name="Text 19"/>
          <p:cNvSpPr/>
          <p:nvPr/>
        </p:nvSpPr>
        <p:spPr>
          <a:xfrm>
            <a:off x="5250656" y="66615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27" name="Text 20"/>
          <p:cNvSpPr/>
          <p:nvPr/>
        </p:nvSpPr>
        <p:spPr>
          <a:xfrm>
            <a:off x="8411828" y="1638848"/>
            <a:ext cx="537777" cy="212027"/>
          </a:xfrm>
          <a:prstGeom prst="roundRect">
            <a:avLst>
              <a:gd name="adj" fmla="val 448786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8587534" y="1693069"/>
            <a:ext cx="31495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PINIA</a:t>
            </a:r>
            <a:endParaRPr lang="en-US" sz="619" dirty="0"/>
          </a:p>
        </p:txBody>
      </p:sp>
      <p:sp>
        <p:nvSpPr>
          <p:cNvPr id="29" name="Text 22"/>
          <p:cNvSpPr/>
          <p:nvPr/>
        </p:nvSpPr>
        <p:spPr>
          <a:xfrm>
            <a:off x="8510327" y="170199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30" name="Text 23"/>
          <p:cNvSpPr/>
          <p:nvPr/>
        </p:nvSpPr>
        <p:spPr>
          <a:xfrm>
            <a:off x="5192078" y="4149876"/>
            <a:ext cx="968045" cy="212027"/>
          </a:xfrm>
          <a:prstGeom prst="roundRect">
            <a:avLst>
              <a:gd name="adj" fmla="val 4487860"/>
            </a:avLst>
          </a:prstGeom>
          <a:solidFill>
            <a:srgbClr val="94A3B8">
              <a:alpha val="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5422106" y="4204097"/>
            <a:ext cx="636575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TRANSFORMERS.JS</a:t>
            </a:r>
            <a:endParaRPr lang="en-US" sz="619" dirty="0"/>
          </a:p>
        </p:txBody>
      </p:sp>
      <p:sp>
        <p:nvSpPr>
          <p:cNvPr id="32" name="Text 25"/>
          <p:cNvSpPr/>
          <p:nvPr/>
        </p:nvSpPr>
        <p:spPr>
          <a:xfrm>
            <a:off x="5293519" y="42130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1545644"/>
            <a:ext cx="956995" cy="212027"/>
          </a:xfrm>
          <a:prstGeom prst="roundRect">
            <a:avLst>
              <a:gd name="adj" fmla="val 448786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557003"/>
            <a:ext cx="9112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О ПРОДУКТЕ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74900"/>
            <a:ext cx="3457575" cy="73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2475" b="1" spc="-4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Зачем этот</a:t>
            </a:r>
            <a:endParaRPr lang="en-US" sz="2475" dirty="0"/>
          </a:p>
          <a:p>
            <a:pPr algn="l" indent="0" marL="0">
              <a:lnSpc>
                <a:spcPts val="2673"/>
              </a:lnSpc>
              <a:buNone/>
            </a:pPr>
            <a:r>
              <a:rPr lang="en-US" sz="2475" b="1" spc="-4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проект</a:t>
            </a:r>
            <a:endParaRPr lang="en-US" sz="24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82367"/>
            <a:ext cx="257175" cy="214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2385"/>
            <a:ext cx="3143250" cy="814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SPA, где на одном живом примере видно всё: Composition API, Router, Pinia, реактивность, анимации, динамический рендеринг и работу с Web API — без отрыва от реальной задачи.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84647"/>
            <a:ext cx="4800600" cy="7913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89772" y="1288219"/>
            <a:ext cx="4793456" cy="784250"/>
          </a:xfrm>
          <a:prstGeom prst="roundRect">
            <a:avLst>
              <a:gd name="adj" fmla="val 17004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039791" y="1423950"/>
            <a:ext cx="307181" cy="307181"/>
          </a:xfrm>
          <a:prstGeom prst="roundRect">
            <a:avLst>
              <a:gd name="adj" fmla="val 31008"/>
            </a:avLst>
          </a:prstGeom>
          <a:solidFill>
            <a:srgbClr val="94A3B8">
              <a:alpha val="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079438" y="146359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◇</a:t>
            </a:r>
            <a:endParaRPr lang="en-US" sz="1547" dirty="0"/>
          </a:p>
        </p:txBody>
      </p:sp>
      <p:sp>
        <p:nvSpPr>
          <p:cNvPr id="11" name="Text 7"/>
          <p:cNvSpPr/>
          <p:nvPr/>
        </p:nvSpPr>
        <p:spPr>
          <a:xfrm>
            <a:off x="4479131" y="1409020"/>
            <a:ext cx="622957" cy="212027"/>
          </a:xfrm>
          <a:prstGeom prst="roundRect">
            <a:avLst>
              <a:gd name="adj" fmla="val 4487860"/>
            </a:avLst>
          </a:prstGeom>
          <a:solidFill>
            <a:srgbClr val="94A3B8">
              <a:alpha val="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479131" y="1420378"/>
            <a:ext cx="62295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ПРОБЛЕМА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173526" y="1442145"/>
            <a:ext cx="3363255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 вместо песочниц</a:t>
            </a:r>
            <a:endParaRPr lang="en-US" sz="956" dirty="0"/>
          </a:p>
        </p:txBody>
      </p:sp>
      <p:sp>
        <p:nvSpPr>
          <p:cNvPr id="14" name="Text 10"/>
          <p:cNvSpPr/>
          <p:nvPr/>
        </p:nvSpPr>
        <p:spPr>
          <a:xfrm>
            <a:off x="4479131" y="1652550"/>
            <a:ext cx="4057650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Студентам Vue 3 нужен пример, где Composition API, Pinia и Transition работают вместе — а не в изолированных песочницах.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176053"/>
            <a:ext cx="4800600" cy="7913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89772" y="2179625"/>
            <a:ext cx="4793456" cy="784250"/>
          </a:xfrm>
          <a:prstGeom prst="roundRect">
            <a:avLst>
              <a:gd name="adj" fmla="val 17004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039791" y="2315356"/>
            <a:ext cx="307181" cy="307181"/>
          </a:xfrm>
          <a:prstGeom prst="roundRect">
            <a:avLst>
              <a:gd name="adj" fmla="val 31008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079438" y="235500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19" name="Text 14"/>
          <p:cNvSpPr/>
          <p:nvPr/>
        </p:nvSpPr>
        <p:spPr>
          <a:xfrm>
            <a:off x="4479131" y="2300426"/>
            <a:ext cx="553417" cy="212027"/>
          </a:xfrm>
          <a:prstGeom prst="roundRect">
            <a:avLst>
              <a:gd name="adj" fmla="val 4487860"/>
            </a:avLst>
          </a:prstGeom>
          <a:solidFill>
            <a:srgbClr val="42B883">
              <a:alpha val="12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479131" y="2311784"/>
            <a:ext cx="55341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103986" y="2333551"/>
            <a:ext cx="3432795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Два демо без бэкенда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479131" y="2543956"/>
            <a:ext cx="4057650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 с двумя демо: детектор объектов и переводчик. Модели запускаются локально через transformers.js — без бэкенда.</a:t>
            </a:r>
            <a:endParaRPr lang="en-US" sz="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067459"/>
            <a:ext cx="4800600" cy="79139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889772" y="3071031"/>
            <a:ext cx="4793456" cy="784250"/>
          </a:xfrm>
          <a:prstGeom prst="roundRect">
            <a:avLst>
              <a:gd name="adj" fmla="val 17004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039791" y="3206762"/>
            <a:ext cx="307181" cy="307181"/>
          </a:xfrm>
          <a:prstGeom prst="roundRect">
            <a:avLst>
              <a:gd name="adj" fmla="val 31008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079438" y="324641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547" dirty="0"/>
          </a:p>
        </p:txBody>
      </p:sp>
      <p:sp>
        <p:nvSpPr>
          <p:cNvPr id="27" name="Text 21"/>
          <p:cNvSpPr/>
          <p:nvPr/>
        </p:nvSpPr>
        <p:spPr>
          <a:xfrm>
            <a:off x="4479131" y="3191832"/>
            <a:ext cx="665373" cy="212027"/>
          </a:xfrm>
          <a:prstGeom prst="roundRect">
            <a:avLst>
              <a:gd name="adj" fmla="val 448786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479131" y="3203191"/>
            <a:ext cx="6653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АУДИТОРИЯ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5215942" y="3224957"/>
            <a:ext cx="332083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Студенты и преподаватели</a:t>
            </a:r>
            <a:endParaRPr lang="en-US" sz="956" dirty="0"/>
          </a:p>
        </p:txBody>
      </p:sp>
      <p:sp>
        <p:nvSpPr>
          <p:cNvPr id="30" name="Text 24"/>
          <p:cNvSpPr/>
          <p:nvPr/>
        </p:nvSpPr>
        <p:spPr>
          <a:xfrm>
            <a:off x="4479131" y="3435362"/>
            <a:ext cx="4057650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Студенты и преподаватели Vue 3. Прогресс изучения сохраняется в localStorage, есть викторины по каждой модели.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1363519" cy="212027"/>
          </a:xfrm>
          <a:prstGeom prst="roundRect">
            <a:avLst>
              <a:gd name="adj" fmla="val 448786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3177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СТЕК И АРХИТЕКТУРА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75084"/>
            <a:ext cx="863600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Vite 6 · Vue 3.5 · transformers.js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457200" y="1077925"/>
            <a:ext cx="65722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Чистый CSS, без TypeScript. Ленивый импорт роутов, 4 стора Pinia, единая обёртка над ML-пайплайном.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6537"/>
            <a:ext cx="2666963" cy="1611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772" y="1410109"/>
            <a:ext cx="2659819" cy="1604107"/>
          </a:xfrm>
          <a:prstGeom prst="roundRect">
            <a:avLst>
              <a:gd name="adj" fmla="val 831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2931" y="1547626"/>
            <a:ext cx="22526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859844" y="15422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0" name="Text 7"/>
          <p:cNvSpPr/>
          <p:nvPr/>
        </p:nvSpPr>
        <p:spPr>
          <a:xfrm>
            <a:off x="592931" y="1728006"/>
            <a:ext cx="2395500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Ядро Vue 3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592931" y="1939417"/>
            <a:ext cx="2395500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Composition API, &lt;script setup&gt;, Vue Router 4 (lazy + ?tab=), Pinia с 4 сторами: demoStore, progress, history, theme.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463" y="1406537"/>
            <a:ext cx="2666963" cy="161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42035" y="1410109"/>
            <a:ext cx="2659819" cy="1604107"/>
          </a:xfrm>
          <a:prstGeom prst="roundRect">
            <a:avLst>
              <a:gd name="adj" fmla="val 831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374194" y="1547626"/>
            <a:ext cx="22526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641107" y="15422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6" name="Text 12"/>
          <p:cNvSpPr/>
          <p:nvPr/>
        </p:nvSpPr>
        <p:spPr>
          <a:xfrm>
            <a:off x="3374194" y="1728006"/>
            <a:ext cx="2395500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Реактивность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3374194" y="1939417"/>
            <a:ext cx="239550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ref, computed, watch (deep + shallowRef), nextTick + rAF для плавных анимаций на canvas.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26" y="1406537"/>
            <a:ext cx="2667074" cy="16112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23297" y="1410109"/>
            <a:ext cx="2659931" cy="1604107"/>
          </a:xfrm>
          <a:prstGeom prst="roundRect">
            <a:avLst>
              <a:gd name="adj" fmla="val 8313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155457" y="1547626"/>
            <a:ext cx="22527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8422481" y="15422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7"/>
          <p:cNvSpPr/>
          <p:nvPr/>
        </p:nvSpPr>
        <p:spPr>
          <a:xfrm>
            <a:off x="6155457" y="1728006"/>
            <a:ext cx="239561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ML-слой</a:t>
            </a:r>
            <a:endParaRPr lang="en-US" sz="1013" dirty="0"/>
          </a:p>
        </p:txBody>
      </p:sp>
      <p:sp>
        <p:nvSpPr>
          <p:cNvPr id="23" name="Text 18"/>
          <p:cNvSpPr/>
          <p:nvPr/>
        </p:nvSpPr>
        <p:spPr>
          <a:xfrm>
            <a:off x="6155457" y="1939417"/>
            <a:ext cx="2395612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@huggingface/transformers. usePipeline — единая обёртка над детектором и переводчиком. Кэш в IndexedDB, офлайн-режим.</a:t>
            </a:r>
            <a:endParaRPr lang="en-US" sz="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32088"/>
            <a:ext cx="2666963" cy="16113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0772" y="3135660"/>
            <a:ext cx="2659819" cy="1604218"/>
          </a:xfrm>
          <a:prstGeom prst="roundRect">
            <a:avLst>
              <a:gd name="adj" fmla="val 83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92931" y="3273177"/>
            <a:ext cx="22526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2859844" y="32678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2"/>
          <p:cNvSpPr/>
          <p:nvPr/>
        </p:nvSpPr>
        <p:spPr>
          <a:xfrm>
            <a:off x="592931" y="3453557"/>
            <a:ext cx="2395500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Компонентная база</a:t>
            </a:r>
            <a:endParaRPr lang="en-US" sz="1013" dirty="0"/>
          </a:p>
        </p:txBody>
      </p:sp>
      <p:sp>
        <p:nvSpPr>
          <p:cNvPr id="29" name="Text 23"/>
          <p:cNvSpPr/>
          <p:nvPr/>
        </p:nvSpPr>
        <p:spPr>
          <a:xfrm>
            <a:off x="592931" y="3664967"/>
            <a:ext cx="2395500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DemoPage (вкладки), HowItWorksPanel с &lt;component :is&gt;, 6 переиспользуемых секций: Text, List, Chips, Gallery, Examples, Quiz.</a:t>
            </a:r>
            <a:endParaRPr lang="en-US" sz="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463" y="3132088"/>
            <a:ext cx="2666963" cy="16113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242035" y="3135660"/>
            <a:ext cx="2659819" cy="1604218"/>
          </a:xfrm>
          <a:prstGeom prst="roundRect">
            <a:avLst>
              <a:gd name="adj" fmla="val 83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374194" y="3273177"/>
            <a:ext cx="22526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5641107" y="32678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27"/>
          <p:cNvSpPr/>
          <p:nvPr/>
        </p:nvSpPr>
        <p:spPr>
          <a:xfrm>
            <a:off x="3374194" y="3453557"/>
            <a:ext cx="2395500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Анимации</a:t>
            </a:r>
            <a:endParaRPr lang="en-US" sz="1013" dirty="0"/>
          </a:p>
        </p:txBody>
      </p:sp>
      <p:sp>
        <p:nvSpPr>
          <p:cNvPr id="35" name="Text 28"/>
          <p:cNvSpPr/>
          <p:nvPr/>
        </p:nvSpPr>
        <p:spPr>
          <a:xfrm>
            <a:off x="3374194" y="3664967"/>
            <a:ext cx="239550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Transition (mode="out-in"), TransitionGroup с list-move для staggering карточек и drag-and-drop перестановок.</a:t>
            </a:r>
            <a:endParaRPr lang="en-US" sz="8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726" y="3132088"/>
            <a:ext cx="2667074" cy="161136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023297" y="3135660"/>
            <a:ext cx="2659931" cy="1604218"/>
          </a:xfrm>
          <a:prstGeom prst="roundRect">
            <a:avLst>
              <a:gd name="adj" fmla="val 8312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6155457" y="3273177"/>
            <a:ext cx="22527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8422481" y="32678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0" name="Text 32"/>
          <p:cNvSpPr/>
          <p:nvPr/>
        </p:nvSpPr>
        <p:spPr>
          <a:xfrm>
            <a:off x="6155457" y="3453557"/>
            <a:ext cx="2395612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 API</a:t>
            </a:r>
            <a:endParaRPr lang="en-US" sz="1013" dirty="0"/>
          </a:p>
        </p:txBody>
      </p:sp>
      <p:sp>
        <p:nvSpPr>
          <p:cNvPr id="41" name="Text 33"/>
          <p:cNvSpPr/>
          <p:nvPr/>
        </p:nvSpPr>
        <p:spPr>
          <a:xfrm>
            <a:off x="6155457" y="3664967"/>
            <a:ext cx="2395612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Canvas API для bounding boxes, clipboard, speechSynthesis (EN/RU), localStorage, color input, prefers-color-scheme.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07706"/>
            <a:ext cx="8229600" cy="0"/>
          </a:xfrm>
          <a:prstGeom prst="line">
            <a:avLst/>
          </a:prstGeom>
          <a:noFill/>
          <a:ln w="7144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4340" y="388691"/>
            <a:ext cx="1413860" cy="212027"/>
          </a:xfrm>
          <a:prstGeom prst="roundRect">
            <a:avLst>
              <a:gd name="adj" fmla="val 448786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00050"/>
            <a:ext cx="13681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ПОТОК ПОЛЬЗОВАТЕЛЯ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75084"/>
            <a:ext cx="863600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Хаб → Детектор → Переводчик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457200" y="1077925"/>
            <a:ext cx="65722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Три страницы, два демо-движка. Прогресс изучения и активная модель — в общем сайдбаре.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638" y="1463687"/>
            <a:ext cx="2428875" cy="28547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2209" y="1467259"/>
            <a:ext cx="2421731" cy="2847566"/>
          </a:xfrm>
          <a:prstGeom prst="roundRect">
            <a:avLst>
              <a:gd name="adj" fmla="val 550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70084" y="1616635"/>
            <a:ext cx="734087" cy="212027"/>
          </a:xfrm>
          <a:prstGeom prst="roundRect">
            <a:avLst>
              <a:gd name="adj" fmla="val 4487860"/>
            </a:avLst>
          </a:prstGeom>
          <a:solidFill>
            <a:srgbClr val="94A3B8">
              <a:alpha val="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7151" y="1627994"/>
            <a:ext cx="899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HOMEVIEW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636044" y="164406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1547" dirty="0"/>
          </a:p>
        </p:txBody>
      </p:sp>
      <p:sp>
        <p:nvSpPr>
          <p:cNvPr id="12" name="Text 9"/>
          <p:cNvSpPr/>
          <p:nvPr/>
        </p:nvSpPr>
        <p:spPr>
          <a:xfrm>
            <a:off x="692944" y="1917316"/>
            <a:ext cx="210026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Хаб</a:t>
            </a:r>
            <a:endParaRPr lang="en-US" sz="1238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44" y="2205856"/>
            <a:ext cx="257175" cy="2143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2944" y="2327300"/>
            <a:ext cx="2100263" cy="68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Обзор демо и технологий Vue 3</a:t>
            </a:r>
            <a:endParaRPr lang="en-US" sz="800" dirty="0"/>
          </a:p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Прогресс-бар изучения</a:t>
            </a:r>
            <a:endParaRPr lang="en-US" sz="800" dirty="0"/>
          </a:p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Тёмная тема, переключение 🌙/☀️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043238" y="277668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2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563" y="1463687"/>
            <a:ext cx="2428875" cy="28547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61134" y="1467259"/>
            <a:ext cx="2421731" cy="2847566"/>
          </a:xfrm>
          <a:prstGeom prst="roundRect">
            <a:avLst>
              <a:gd name="adj" fmla="val 550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499009" y="1616635"/>
            <a:ext cx="903863" cy="212027"/>
          </a:xfrm>
          <a:prstGeom prst="roundRect">
            <a:avLst>
              <a:gd name="adj" fmla="val 4487860"/>
            </a:avLst>
          </a:prstGeom>
          <a:solidFill>
            <a:srgbClr val="94A3B8">
              <a:alpha val="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521869" y="1627994"/>
            <a:ext cx="85814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DETECTORVIEW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464969" y="164406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1" name="Text 16"/>
          <p:cNvSpPr/>
          <p:nvPr/>
        </p:nvSpPr>
        <p:spPr>
          <a:xfrm>
            <a:off x="3521869" y="1917316"/>
            <a:ext cx="2100262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Детектор объектов</a:t>
            </a:r>
            <a:endParaRPr lang="en-US" sz="1238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869" y="2205856"/>
            <a:ext cx="257175" cy="2143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521869" y="2327300"/>
            <a:ext cx="2100263" cy="68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Xenova/detr-resnet-50 (166 МБ)</a:t>
            </a:r>
            <a:endParaRPr lang="en-US" sz="800" dirty="0"/>
          </a:p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Две вкладки: Демо / Как это работает</a:t>
            </a:r>
            <a:endParaRPr lang="en-US" sz="800" dirty="0"/>
          </a:p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Викторина из 3 вопросов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5872163" y="2776686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2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6488" y="1463687"/>
            <a:ext cx="2428875" cy="285470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90059" y="1467259"/>
            <a:ext cx="2421731" cy="2847566"/>
          </a:xfrm>
          <a:prstGeom prst="roundRect">
            <a:avLst>
              <a:gd name="adj" fmla="val 5506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6327934" y="1616635"/>
            <a:ext cx="988695" cy="212027"/>
          </a:xfrm>
          <a:prstGeom prst="roundRect">
            <a:avLst>
              <a:gd name="adj" fmla="val 4487860"/>
            </a:avLst>
          </a:prstGeom>
          <a:solidFill>
            <a:srgbClr val="94A3B8">
              <a:alpha val="8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6350794" y="1627994"/>
            <a:ext cx="9429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TRANSLATORVIEW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8293894" y="164406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30" name="Text 23"/>
          <p:cNvSpPr/>
          <p:nvPr/>
        </p:nvSpPr>
        <p:spPr>
          <a:xfrm>
            <a:off x="6350794" y="1917316"/>
            <a:ext cx="210026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Переводчик</a:t>
            </a:r>
            <a:endParaRPr lang="en-US" sz="1238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794" y="2205856"/>
            <a:ext cx="257175" cy="2143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50794" y="2327300"/>
            <a:ext cx="210026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opus-mt ru↔en (2 × 108 МБ)</a:t>
            </a:r>
            <a:endParaRPr lang="en-US" sz="800" dirty="0"/>
          </a:p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Инкрементальный стриминг по предложениям</a:t>
            </a:r>
            <a:endParaRPr lang="en-US" sz="800" dirty="0"/>
          </a:p>
          <a:p>
            <a:pPr algn="l" marL="342900" indent="-342900">
              <a:lnSpc>
                <a:spcPts val="1097"/>
              </a:lnSpc>
              <a:spcAft>
                <a:spcPts val="563"/>
              </a:spcAft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История в Pinia (5 последних)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2837185" y="4625578"/>
            <a:ext cx="15281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ОБЩЕЕ ДЛЯ ВСЕХ СТРАНИЦ: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4238141" y="4625578"/>
            <a:ext cx="46874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Сайдбар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677259" y="4625578"/>
            <a:ext cx="9144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4778312" y="4625578"/>
            <a:ext cx="35925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Pinia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5087689" y="4625578"/>
            <a:ext cx="9144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5192278" y="4625578"/>
            <a:ext cx="52544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KeepAlive</a:t>
            </a:r>
            <a:endParaRPr lang="en-US" sz="619" dirty="0"/>
          </a:p>
        </p:txBody>
      </p:sp>
      <p:sp>
        <p:nvSpPr>
          <p:cNvPr id="39" name="Text 31"/>
          <p:cNvSpPr/>
          <p:nvPr/>
        </p:nvSpPr>
        <p:spPr>
          <a:xfrm>
            <a:off x="5674147" y="4625578"/>
            <a:ext cx="9144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5778736" y="4625578"/>
            <a:ext cx="2908064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1030888" cy="212027"/>
          </a:xfrm>
          <a:prstGeom prst="roundRect">
            <a:avLst>
              <a:gd name="adj" fmla="val 448786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98516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— ХАБ · HOMEVIEW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32222"/>
            <a:ext cx="8636000" cy="266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 нейросетей в браузере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26455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localhost:5173/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Composition API · Router · Pinia · Transition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94346"/>
            <a:ext cx="5143500" cy="3549104"/>
          </a:xfrm>
          <a:prstGeom prst="roundRect">
            <a:avLst>
              <a:gd name="adj" fmla="val 2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94A3B8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194346"/>
            <a:ext cx="5143500" cy="15716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638" y="1244352"/>
            <a:ext cx="57150" cy="57150"/>
          </a:xfrm>
          <a:prstGeom prst="ellipse">
            <a:avLst/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244352"/>
            <a:ext cx="57150" cy="57150"/>
          </a:xfrm>
          <a:prstGeom prst="ellipse">
            <a:avLst/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1244352"/>
            <a:ext cx="57150" cy="57150"/>
          </a:xfrm>
          <a:prstGeom prst="ellipse">
            <a:avLst/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8681" y="1205061"/>
            <a:ext cx="4650581" cy="135731"/>
          </a:xfrm>
          <a:prstGeom prst="roundRect">
            <a:avLst>
              <a:gd name="adj" fmla="val 280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78681" y="1205061"/>
            <a:ext cx="46505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localhost:5173/</a:t>
            </a:r>
            <a:endParaRPr lang="en-US" sz="800" dirty="0"/>
          </a:p>
        </p:txBody>
      </p:sp>
      <p:pic>
        <p:nvPicPr>
          <p:cNvPr id="13" name="Image 0" descr="/tmp/h2p-fit-1792022061663-xtqu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1508"/>
            <a:ext cx="5143500" cy="289321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804297" y="1197918"/>
            <a:ext cx="2878931" cy="557882"/>
          </a:xfrm>
          <a:prstGeom prst="roundRect">
            <a:avLst>
              <a:gd name="adj" fmla="val 2048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907881" y="1287214"/>
            <a:ext cx="251460" cy="14073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27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150769" y="1287214"/>
            <a:ext cx="24288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Заголовок и описание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150769" y="1426518"/>
            <a:ext cx="24288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«Демо нейросетей в браузере» + краткое пояснение про Composition API и transformers.js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04297" y="1834381"/>
            <a:ext cx="2878931" cy="557882"/>
          </a:xfrm>
          <a:prstGeom prst="roundRect">
            <a:avLst>
              <a:gd name="adj" fmla="val 2048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907881" y="1923678"/>
            <a:ext cx="251460" cy="14073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27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50769" y="1923678"/>
            <a:ext cx="24288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Прогресс-бар изучения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50769" y="2062981"/>
            <a:ext cx="24288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Заполняется по мере посещения страниц, кнопка «Сбросить прогресс», localStorage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804297" y="2470845"/>
            <a:ext cx="2878931" cy="557882"/>
          </a:xfrm>
          <a:prstGeom prst="roundRect">
            <a:avLst>
              <a:gd name="adj" fmla="val 2048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907881" y="2560141"/>
            <a:ext cx="251460" cy="14073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27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150769" y="2560141"/>
            <a:ext cx="24288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Карточки демо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50769" y="2699445"/>
            <a:ext cx="24288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Детектор + Переводчик, staggering-появление через TransitionGroup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804297" y="3107308"/>
            <a:ext cx="2878931" cy="677875"/>
          </a:xfrm>
          <a:prstGeom prst="roundRect">
            <a:avLst>
              <a:gd name="adj" fmla="val 16862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907881" y="3196605"/>
            <a:ext cx="251460" cy="14073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27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50769" y="3196605"/>
            <a:ext cx="2538603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категорий технологий Vue 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50769" y="3335908"/>
            <a:ext cx="242887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Ядро, реактивность, анимации, композаблы, динамический рендеринг, формы, Canvas/Web API, Pinia, CSS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804297" y="3863764"/>
            <a:ext cx="2878931" cy="557882"/>
          </a:xfrm>
          <a:prstGeom prst="roundRect">
            <a:avLst>
              <a:gd name="adj" fmla="val 2048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907881" y="3953061"/>
            <a:ext cx="251460" cy="140732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spc="27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150769" y="3953061"/>
            <a:ext cx="2428875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Сайдбар + тёмная тема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150769" y="4092364"/>
            <a:ext cx="24288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Навигация с галочками ✓, активная модель, переключение 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🌙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/☀️ через prefers-color-scheme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403622"/>
            <a:ext cx="1408993" cy="182166"/>
          </a:xfrm>
          <a:prstGeom prst="roundRect">
            <a:avLst>
              <a:gd name="adj" fmla="val 5223519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416137" cy="20474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ДЕТЕКТОР · DETECTORVIEW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32222"/>
            <a:ext cx="8636000" cy="266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3" spc="-18" kern="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Xenova/detr-resnet-50</a:t>
            </a:r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166 МБ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26455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Объекты на canvas, bounding boxes, метрики, шторка до/после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0058"/>
            <a:ext cx="4657055" cy="3563392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94A3B8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180058"/>
            <a:ext cx="4657055" cy="15716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638" y="1230064"/>
            <a:ext cx="57150" cy="57150"/>
          </a:xfrm>
          <a:prstGeom prst="ellipse">
            <a:avLst/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230064"/>
            <a:ext cx="57150" cy="57150"/>
          </a:xfrm>
          <a:prstGeom prst="ellipse">
            <a:avLst/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1230064"/>
            <a:ext cx="57150" cy="57150"/>
          </a:xfrm>
          <a:prstGeom prst="ellipse">
            <a:avLst/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8681" y="1190774"/>
            <a:ext cx="4164137" cy="135731"/>
          </a:xfrm>
          <a:prstGeom prst="roundRect">
            <a:avLst>
              <a:gd name="adj" fmla="val 280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78681" y="1190774"/>
            <a:ext cx="416413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localhost:5173/detector</a:t>
            </a:r>
            <a:endParaRPr lang="en-US" sz="800" dirty="0"/>
          </a:p>
        </p:txBody>
      </p:sp>
      <p:pic>
        <p:nvPicPr>
          <p:cNvPr id="13" name="Image 0" descr="/tmp/h2p-fit-1792022061797-myvmz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7221"/>
            <a:ext cx="4657055" cy="26195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17852" y="1183630"/>
            <a:ext cx="3365264" cy="390339"/>
          </a:xfrm>
          <a:prstGeom prst="roundRect">
            <a:avLst>
              <a:gd name="adj" fmla="val 24402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07149" y="1258639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621462" y="1258639"/>
            <a:ext cx="2972358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 и прогресс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621462" y="1389013"/>
            <a:ext cx="297235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idle / loading / ready / error, прогресс-бар при загрузке 166 МБ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5317852" y="1638263"/>
            <a:ext cx="3365264" cy="390339"/>
          </a:xfrm>
          <a:prstGeom prst="roundRect">
            <a:avLst>
              <a:gd name="adj" fmla="val 24402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07149" y="1713272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21462" y="1713272"/>
            <a:ext cx="2972358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3-стадийный степпер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21462" y="1843646"/>
            <a:ext cx="297235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① Загрузка → ② Детекция → ③ Готово, анимация подписи через Transition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5317852" y="2092896"/>
            <a:ext cx="3365264" cy="390339"/>
          </a:xfrm>
          <a:prstGeom prst="roundRect">
            <a:avLst>
              <a:gd name="adj" fmla="val 24402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407149" y="2167905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621462" y="2167905"/>
            <a:ext cx="2972358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Метрики объектов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621462" y="2298278"/>
            <a:ext cx="297235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Найдено N, уникальных классов M, средняя уверенность K%, анимация чисел</a:t>
            </a:r>
            <a:endParaRPr lang="en-US" sz="619" dirty="0"/>
          </a:p>
        </p:txBody>
      </p:sp>
      <p:sp>
        <p:nvSpPr>
          <p:cNvPr id="26" name="Text 23"/>
          <p:cNvSpPr/>
          <p:nvPr/>
        </p:nvSpPr>
        <p:spPr>
          <a:xfrm>
            <a:off x="5317852" y="2547528"/>
            <a:ext cx="3365264" cy="500286"/>
          </a:xfrm>
          <a:prstGeom prst="roundRect">
            <a:avLst>
              <a:gd name="adj" fmla="val 19039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407149" y="2622538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21462" y="2622538"/>
            <a:ext cx="3082086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Слайдер порога уверенности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621462" y="2752911"/>
            <a:ext cx="297235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Динамический min = наименьший confidence, шаг 0.1%, скрытие слабых боксов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17852" y="3112108"/>
            <a:ext cx="3365264" cy="390339"/>
          </a:xfrm>
          <a:prstGeom prst="roundRect">
            <a:avLst>
              <a:gd name="adj" fmla="val 24402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407149" y="3187117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21462" y="3187117"/>
            <a:ext cx="2972358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Шторка «до/после»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21462" y="3317491"/>
            <a:ext cx="2972358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clip-path: inset, вертикальная бирюзовая черта, слева с боксами, справа без</a:t>
            </a:r>
            <a:endParaRPr lang="en-US" sz="619" dirty="0"/>
          </a:p>
        </p:txBody>
      </p:sp>
      <p:sp>
        <p:nvSpPr>
          <p:cNvPr id="34" name="Text 31"/>
          <p:cNvSpPr/>
          <p:nvPr/>
        </p:nvSpPr>
        <p:spPr>
          <a:xfrm>
            <a:off x="5317852" y="3566740"/>
            <a:ext cx="3365264" cy="500286"/>
          </a:xfrm>
          <a:prstGeom prst="roundRect">
            <a:avLst>
              <a:gd name="adj" fmla="val 19039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07149" y="3641750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621462" y="3641750"/>
            <a:ext cx="3082086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Drag-and-drop + язык + озвучка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621462" y="3772123"/>
            <a:ext cx="297235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Перестановка боксов, EN/RU переключатель, speechSynthesis на выбранном языке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1363965" cy="212027"/>
          </a:xfrm>
          <a:prstGeom prst="roundRect">
            <a:avLst>
              <a:gd name="adj" fmla="val 448786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3182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ДЕТЕКТОР · НОВИНКИ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32222"/>
            <a:ext cx="8636000" cy="329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spc="-3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добавлено в solutions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989409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 фич поверх основной ветки. Ниже — шесть самых заметных.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8016"/>
            <a:ext cx="2676451" cy="1687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772" y="1271588"/>
            <a:ext cx="2669307" cy="1680567"/>
          </a:xfrm>
          <a:prstGeom prst="roundRect">
            <a:avLst>
              <a:gd name="adj" fmla="val 793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8644" y="1389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2525923" y="1397175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544626" y="1405533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8644" y="1618059"/>
            <a:ext cx="24335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3-стадийный степпер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8644" y="1812280"/>
            <a:ext cx="2433563" cy="102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Активная стадия — зелёная, пройденная — с галочкой ✓. Подпись анимированно меняется через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 mode=out-in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663" y="1268016"/>
            <a:ext cx="2676562" cy="168771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37235" y="1271588"/>
            <a:ext cx="2669418" cy="1680567"/>
          </a:xfrm>
          <a:prstGeom prst="roundRect">
            <a:avLst>
              <a:gd name="adj" fmla="val 793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355107" y="1389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688" dirty="0"/>
          </a:p>
        </p:txBody>
      </p:sp>
      <p:sp>
        <p:nvSpPr>
          <p:cNvPr id="16" name="Text 12"/>
          <p:cNvSpPr/>
          <p:nvPr/>
        </p:nvSpPr>
        <p:spPr>
          <a:xfrm>
            <a:off x="5302498" y="1397175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321201" y="1405533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355107" y="1618059"/>
            <a:ext cx="243367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Скелетоны загрузки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55107" y="1812280"/>
            <a:ext cx="2433675" cy="102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skeleton-shimmer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месте метрик, порога и шторки. Плавная смена скелетон → реальный блок через Transition.</a:t>
            </a:r>
            <a:endParaRPr lang="en-US" sz="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38" y="1268016"/>
            <a:ext cx="2676451" cy="168771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13810" y="1271588"/>
            <a:ext cx="2669307" cy="1680567"/>
          </a:xfrm>
          <a:prstGeom prst="roundRect">
            <a:avLst>
              <a:gd name="adj" fmla="val 793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131682" y="138945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23" name="Text 18"/>
          <p:cNvSpPr/>
          <p:nvPr/>
        </p:nvSpPr>
        <p:spPr>
          <a:xfrm>
            <a:off x="8078961" y="1397175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8097664" y="1405533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6131682" y="1618059"/>
            <a:ext cx="24335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Шторка до/после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131682" y="1812280"/>
            <a:ext cx="2433563" cy="102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clip-path: inset(0 X% 0 0)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canvas-overlay. Вертикальная бирюзовая черта, слева — с боксами, справа — чистое фото.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55739"/>
            <a:ext cx="2676451" cy="168771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60772" y="3059311"/>
            <a:ext cx="2669307" cy="1680567"/>
          </a:xfrm>
          <a:prstGeom prst="roundRect">
            <a:avLst>
              <a:gd name="adj" fmla="val 793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578644" y="317718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688" dirty="0"/>
          </a:p>
        </p:txBody>
      </p:sp>
      <p:sp>
        <p:nvSpPr>
          <p:cNvPr id="30" name="Text 24"/>
          <p:cNvSpPr/>
          <p:nvPr/>
        </p:nvSpPr>
        <p:spPr>
          <a:xfrm>
            <a:off x="2525923" y="3184898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2544626" y="3193256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578644" y="3405783"/>
            <a:ext cx="243356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Управление видимостью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78644" y="3600004"/>
            <a:ext cx="2433563" cy="102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Чекбокс у каждого бокса, «Показать/Скрыть все», Shift+клик → color picker, цвет применяется ко всему классу.</a:t>
            </a:r>
            <a:endParaRPr lang="en-US" sz="8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663" y="3055739"/>
            <a:ext cx="2676562" cy="168771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237235" y="3059311"/>
            <a:ext cx="2669418" cy="1680567"/>
          </a:xfrm>
          <a:prstGeom prst="roundRect">
            <a:avLst>
              <a:gd name="adj" fmla="val 793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3355107" y="317718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37" name="Text 30"/>
          <p:cNvSpPr/>
          <p:nvPr/>
        </p:nvSpPr>
        <p:spPr>
          <a:xfrm>
            <a:off x="5302498" y="3184898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5321201" y="3193256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3355107" y="3405783"/>
            <a:ext cx="243367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EN/RU + озвучка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3355107" y="3600004"/>
            <a:ext cx="2433675" cy="102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Названия классов из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coco.js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(cat → кошка). speechSynthesis: «With 99.5% probability, it's a cat» / «С вероятностью 99.5% это кот».</a:t>
            </a:r>
            <a:endParaRPr lang="en-US" sz="8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238" y="3055739"/>
            <a:ext cx="2676451" cy="1687711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013810" y="3059311"/>
            <a:ext cx="2669307" cy="1680567"/>
          </a:xfrm>
          <a:prstGeom prst="roundRect">
            <a:avLst>
              <a:gd name="adj" fmla="val 793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6131682" y="317718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⋮</a:t>
            </a:r>
            <a:endParaRPr lang="en-US" sz="1688" dirty="0"/>
          </a:p>
        </p:txBody>
      </p:sp>
      <p:sp>
        <p:nvSpPr>
          <p:cNvPr id="44" name="Text 36"/>
          <p:cNvSpPr/>
          <p:nvPr/>
        </p:nvSpPr>
        <p:spPr>
          <a:xfrm>
            <a:off x="8078961" y="3184898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8097664" y="3193256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6131682" y="3405783"/>
            <a:ext cx="2543291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Drag-and-drop сортировка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6131682" y="3600004"/>
            <a:ext cx="2433563" cy="102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Перетаскивайте элементы списка мышью. Цвет боксов на canvas меняется с новым порядком.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TransitionGroup list-move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плавно.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403622"/>
            <a:ext cx="1408993" cy="182166"/>
          </a:xfrm>
          <a:prstGeom prst="roundRect">
            <a:avLst>
              <a:gd name="adj" fmla="val 5223519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416137" cy="204740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ДЕТЕКТОР · HOW IT WORKS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32222"/>
            <a:ext cx="8636000" cy="266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секций + викторина + автопереход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26455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KeepAlive сохраняет состояние демо между переключениями вкладок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80058"/>
            <a:ext cx="4657055" cy="3563392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94A3B8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180058"/>
            <a:ext cx="4657055" cy="15716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638" y="1230064"/>
            <a:ext cx="57150" cy="57150"/>
          </a:xfrm>
          <a:prstGeom prst="ellipse">
            <a:avLst/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230064"/>
            <a:ext cx="57150" cy="57150"/>
          </a:xfrm>
          <a:prstGeom prst="ellipse">
            <a:avLst/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1230064"/>
            <a:ext cx="57150" cy="57150"/>
          </a:xfrm>
          <a:prstGeom prst="ellipse">
            <a:avLst/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8681" y="1190774"/>
            <a:ext cx="4164137" cy="135731"/>
          </a:xfrm>
          <a:prstGeom prst="roundRect">
            <a:avLst>
              <a:gd name="adj" fmla="val 280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78681" y="1190774"/>
            <a:ext cx="4164137" cy="146447"/>
          </a:xfrm>
          <a:prstGeom prst="rect">
            <a:avLst/>
          </a:prstGeom>
          <a:noFill/>
          <a:ln/>
        </p:spPr>
        <p:txBody>
          <a:bodyPr wrap="square" lIns="57150" tIns="14288" rIns="57150" bIns="14288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localhost:5173/detector?tab=how</a:t>
            </a:r>
            <a:endParaRPr lang="en-US" sz="800" dirty="0"/>
          </a:p>
        </p:txBody>
      </p:sp>
      <p:pic>
        <p:nvPicPr>
          <p:cNvPr id="13" name="Image 0" descr="/tmp/h2p-fit-1792022063459-rw5j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7221"/>
            <a:ext cx="4657055" cy="26195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17852" y="1183630"/>
            <a:ext cx="3365264" cy="536674"/>
          </a:xfrm>
          <a:prstGeom prst="roundRect">
            <a:avLst>
              <a:gd name="adj" fmla="val 2129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1437" y="1272927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635749" y="1272927"/>
            <a:ext cx="2943783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секций контента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635749" y="1403300"/>
            <a:ext cx="2943783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· Классы COCO · Ограничения · Что хорошо · Что плохо · Эксперименты · Викторина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317852" y="1798886"/>
            <a:ext cx="3365264" cy="422821"/>
          </a:xfrm>
          <a:prstGeom prst="roundRect">
            <a:avLst>
              <a:gd name="adj" fmla="val 27033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21437" y="1888182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35749" y="1888182"/>
            <a:ext cx="3053511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переиспользуемых компонентов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35749" y="2018556"/>
            <a:ext cx="29437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 · List · Chips · Gallery · Examples · Quiz — рендерятся через 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&lt;component :is&gt;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5317852" y="2300288"/>
            <a:ext cx="3365264" cy="536674"/>
          </a:xfrm>
          <a:prstGeom prst="roundRect">
            <a:avLst>
              <a:gd name="adj" fmla="val 2129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421437" y="2389584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635749" y="2389584"/>
            <a:ext cx="2943783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Галерея с автопереходом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635749" y="2519958"/>
            <a:ext cx="2943783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Клик по карточке → переход на демо + автоматическая загрузка изображения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17852" y="2915543"/>
            <a:ext cx="3365264" cy="536674"/>
          </a:xfrm>
          <a:prstGeom prst="roundRect">
            <a:avLst>
              <a:gd name="adj" fmla="val 2129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421437" y="3004840"/>
            <a:ext cx="22860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35749" y="3004840"/>
            <a:ext cx="2943783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Викторина + прогресс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635749" y="3135213"/>
            <a:ext cx="2943783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вопроса с подсветкой правильных/неправильных, прохождение отмечается в Pinia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17852" y="4471988"/>
            <a:ext cx="3365264" cy="267891"/>
          </a:xfrm>
          <a:prstGeom prst="roundRect">
            <a:avLst>
              <a:gd name="adj" fmla="val 35556"/>
            </a:avLst>
          </a:prstGeom>
          <a:solidFill>
            <a:srgbClr val="94A3B8">
              <a:alpha val="5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421437" y="4546997"/>
            <a:ext cx="50073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KeepAlive</a:t>
            </a:r>
            <a:endParaRPr lang="en-US" sz="619" dirty="0"/>
          </a:p>
        </p:txBody>
      </p:sp>
      <p:sp>
        <p:nvSpPr>
          <p:cNvPr id="32" name="Text 29"/>
          <p:cNvSpPr/>
          <p:nvPr/>
        </p:nvSpPr>
        <p:spPr>
          <a:xfrm>
            <a:off x="5874841" y="4546997"/>
            <a:ext cx="9144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955267" y="4546997"/>
            <a:ext cx="35925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Pinia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48772" y="4546997"/>
            <a:ext cx="9144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339074" y="4546997"/>
            <a:ext cx="224045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403622"/>
            <a:ext cx="1616385" cy="182166"/>
          </a:xfrm>
          <a:prstGeom prst="roundRect">
            <a:avLst>
              <a:gd name="adj" fmla="val 5223519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623529" cy="219027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ПЕРЕВОДЧИК · TRANSLATORVIEW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46509"/>
            <a:ext cx="8636000" cy="27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opus-mt ru↔en · 2 × 108 МБ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55030"/>
            <a:ext cx="822960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MarianMT encoder-decoder, параллельная загрузка обеих моделей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13545"/>
            <a:ext cx="4657167" cy="2776798"/>
          </a:xfrm>
          <a:prstGeom prst="roundRect">
            <a:avLst>
              <a:gd name="adj" fmla="val 34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94A3B8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213545"/>
            <a:ext cx="4657167" cy="15716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638" y="1263551"/>
            <a:ext cx="57150" cy="57150"/>
          </a:xfrm>
          <a:prstGeom prst="ellipse">
            <a:avLst/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263551"/>
            <a:ext cx="57150" cy="57150"/>
          </a:xfrm>
          <a:prstGeom prst="ellipse">
            <a:avLst/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1263551"/>
            <a:ext cx="57150" cy="57150"/>
          </a:xfrm>
          <a:prstGeom prst="ellipse">
            <a:avLst/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8681" y="1224260"/>
            <a:ext cx="4164248" cy="135731"/>
          </a:xfrm>
          <a:prstGeom prst="roundRect">
            <a:avLst>
              <a:gd name="adj" fmla="val 280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78681" y="1224260"/>
            <a:ext cx="4164248" cy="146447"/>
          </a:xfrm>
          <a:prstGeom prst="rect">
            <a:avLst/>
          </a:prstGeom>
          <a:noFill/>
          <a:ln/>
        </p:spPr>
        <p:txBody>
          <a:bodyPr wrap="square" lIns="57150" tIns="14288" rIns="57150" bIns="14288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localhost:5173/translator</a:t>
            </a:r>
            <a:endParaRPr lang="en-US" sz="800" dirty="0"/>
          </a:p>
        </p:txBody>
      </p:sp>
      <p:pic>
        <p:nvPicPr>
          <p:cNvPr id="13" name="Image 0" descr="/tmp/h2p-fit-1792022067649-8fon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0707"/>
            <a:ext cx="4657167" cy="261963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17964" y="1217116"/>
            <a:ext cx="3365264" cy="394246"/>
          </a:xfrm>
          <a:prstGeom prst="roundRect">
            <a:avLst>
              <a:gd name="adj" fmla="val 24160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10833" y="1295698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07261" y="1292126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693011" y="1292126"/>
            <a:ext cx="290092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Статус + направление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93011" y="1422499"/>
            <a:ext cx="290092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idle / loading / ready / error, автоопределение по кириллице, кнопка Swap ⇄</a:t>
            </a:r>
            <a:endParaRPr lang="en-US" sz="619" dirty="0"/>
          </a:p>
        </p:txBody>
      </p:sp>
      <p:sp>
        <p:nvSpPr>
          <p:cNvPr id="19" name="Text 16"/>
          <p:cNvSpPr/>
          <p:nvPr/>
        </p:nvSpPr>
        <p:spPr>
          <a:xfrm>
            <a:off x="5317964" y="1675656"/>
            <a:ext cx="3365264" cy="508099"/>
          </a:xfrm>
          <a:prstGeom prst="roundRect">
            <a:avLst>
              <a:gd name="adj" fmla="val 18746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10833" y="1754237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407261" y="1750665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693011" y="1750665"/>
            <a:ext cx="290092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Поля ввода и вывода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93011" y="1881039"/>
            <a:ext cx="290092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Textarea с лимитом 500, результат переводится, инкрементальный стриминг по предложениям (TransitionGroup)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17964" y="2248049"/>
            <a:ext cx="3365264" cy="508099"/>
          </a:xfrm>
          <a:prstGeom prst="roundRect">
            <a:avLst>
              <a:gd name="adj" fmla="val 18746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10833" y="2326630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07261" y="2323058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693011" y="2323058"/>
            <a:ext cx="290092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SVG-кольцо счётчика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93011" y="2453432"/>
            <a:ext cx="290092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Заполняется по мере ввода, 0–90% зелёный, 90–100% жёлтый, &gt;100% красный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17964" y="2820442"/>
            <a:ext cx="3365264" cy="508099"/>
          </a:xfrm>
          <a:prstGeom prst="roundRect">
            <a:avLst>
              <a:gd name="adj" fmla="val 18746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10833" y="2899023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407261" y="2895451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93011" y="2895451"/>
            <a:ext cx="3010649" cy="10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«Очистить» с подтверждением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93011" y="3025825"/>
            <a:ext cx="290092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Появляется только когда есть текст (Transition), подтверждение для &gt;100 символов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17964" y="3392835"/>
            <a:ext cx="3365264" cy="394246"/>
          </a:xfrm>
          <a:prstGeom prst="roundRect">
            <a:avLst>
              <a:gd name="adj" fmla="val 24160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10833" y="3471416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407261" y="3467844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693011" y="3467844"/>
            <a:ext cx="290092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«Копировать» + toast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93011" y="3598218"/>
            <a:ext cx="290092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navigator.clipboard, иконка ✓ на 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1.5</a:t>
            </a:r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с, toast через Teleport to=«body»</a:t>
            </a:r>
            <a:endParaRPr lang="en-US" sz="619" dirty="0"/>
          </a:p>
        </p:txBody>
      </p:sp>
      <p:sp>
        <p:nvSpPr>
          <p:cNvPr id="39" name="Text 36"/>
          <p:cNvSpPr/>
          <p:nvPr/>
        </p:nvSpPr>
        <p:spPr>
          <a:xfrm>
            <a:off x="5317964" y="3851374"/>
            <a:ext cx="3365264" cy="508099"/>
          </a:xfrm>
          <a:prstGeom prst="roundRect">
            <a:avLst>
              <a:gd name="adj" fmla="val 18746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410833" y="3929955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407261" y="3926384"/>
            <a:ext cx="250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693011" y="3926384"/>
            <a:ext cx="2900921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История в Pinia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693011" y="4056757"/>
            <a:ext cx="2900921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Последние 5 уникальных переводов, клик → восстановление, кнопка «Очистить историю»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403622"/>
            <a:ext cx="1433661" cy="182166"/>
          </a:xfrm>
          <a:prstGeom prst="roundRect">
            <a:avLst>
              <a:gd name="adj" fmla="val 5223519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440805" cy="219027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ПЕРЕВОДЧИК · НОВИНКИ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6509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3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UI-новинки поверх основной ветки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1003697"/>
            <a:ext cx="822960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SVG-кольцо, toast через Teleport, история в Pinia, озвучка, безопасная очистка.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72257"/>
            <a:ext cx="1982391" cy="16855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772" y="1275829"/>
            <a:ext cx="1975247" cy="1678446"/>
          </a:xfrm>
          <a:prstGeom prst="roundRect">
            <a:avLst>
              <a:gd name="adj" fmla="val 79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8644" y="139370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831863" y="1429991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50566" y="1438349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8644" y="1679451"/>
            <a:ext cx="173950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SVG-кольцо счётчика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8644" y="1879476"/>
            <a:ext cx="1739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Заменяет текст «35 / 500». Заполняется по мере ввода. Цвета: 0–90% зелёный, 90–100% жёлтый, &gt;100% красный.</a:t>
            </a:r>
            <a:endParaRPr lang="en-US" sz="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603" y="1272257"/>
            <a:ext cx="1982391" cy="16855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43175" y="1275829"/>
            <a:ext cx="1975247" cy="1678446"/>
          </a:xfrm>
          <a:prstGeom prst="roundRect">
            <a:avLst>
              <a:gd name="adj" fmla="val 79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661047" y="139370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◀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3914266" y="1429991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932969" y="1438349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661047" y="1679451"/>
            <a:ext cx="173950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Озвучить перевод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661047" y="1879476"/>
            <a:ext cx="173950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speechSynthesis.speak() с языком, соответствующим направлению. Иконка ⏸ во время проигрывания, onBeforeUnmount — cancel().</a:t>
            </a:r>
            <a:endParaRPr lang="en-US" sz="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006" y="1272257"/>
            <a:ext cx="1982391" cy="16855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25578" y="1275829"/>
            <a:ext cx="1975247" cy="1678446"/>
          </a:xfrm>
          <a:prstGeom prst="roundRect">
            <a:avLst>
              <a:gd name="adj" fmla="val 79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743450" y="139370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⎘</a:t>
            </a:r>
            <a:endParaRPr lang="en-US" sz="1125" dirty="0"/>
          </a:p>
        </p:txBody>
      </p:sp>
      <p:sp>
        <p:nvSpPr>
          <p:cNvPr id="23" name="Text 18"/>
          <p:cNvSpPr/>
          <p:nvPr/>
        </p:nvSpPr>
        <p:spPr>
          <a:xfrm>
            <a:off x="5996669" y="1429991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6015372" y="1438349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743450" y="1679451"/>
            <a:ext cx="173950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Копировать + toast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743450" y="1879476"/>
            <a:ext cx="1739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navigator.clipboard, иконка ✓ на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1.5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с, toast «Текст скопирован» через Teleport to=body, продление через clearTimeout.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409" y="1272257"/>
            <a:ext cx="1982391" cy="16855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07981" y="1275829"/>
            <a:ext cx="1975247" cy="1678446"/>
          </a:xfrm>
          <a:prstGeom prst="roundRect">
            <a:avLst>
              <a:gd name="adj" fmla="val 79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825853" y="1393701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0" name="Text 24"/>
          <p:cNvSpPr/>
          <p:nvPr/>
        </p:nvSpPr>
        <p:spPr>
          <a:xfrm>
            <a:off x="8079072" y="1429991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8097775" y="1438349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6825853" y="1679451"/>
            <a:ext cx="173950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История в Pinia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825853" y="1879476"/>
            <a:ext cx="1739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Последние 5 уникальных переводов. Клик — восстановление исходного текста и направления. Очистка с confirm().</a:t>
            </a:r>
            <a:endParaRPr lang="en-US" sz="8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57860"/>
            <a:ext cx="1982391" cy="168559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60772" y="3061432"/>
            <a:ext cx="1975247" cy="1678446"/>
          </a:xfrm>
          <a:prstGeom prst="roundRect">
            <a:avLst>
              <a:gd name="adj" fmla="val 79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578644" y="317930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7" name="Text 30"/>
          <p:cNvSpPr/>
          <p:nvPr/>
        </p:nvSpPr>
        <p:spPr>
          <a:xfrm>
            <a:off x="1831863" y="3215594"/>
            <a:ext cx="504987" cy="156020"/>
          </a:xfrm>
          <a:prstGeom prst="roundRect">
            <a:avLst>
              <a:gd name="adj" fmla="val 6098882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1850566" y="3223952"/>
            <a:ext cx="467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НОВИНКА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578644" y="3465054"/>
            <a:ext cx="173950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Безопасная очистка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578644" y="3665079"/>
            <a:ext cx="1739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Появляется только когда есть текст (Transition). Для длинных текстов (&gt;100 символов) — подтверждение. Сбрасывает inputText, translatedSentences, manualOverride.</a:t>
            </a:r>
            <a:endParaRPr lang="en-US" sz="8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9603" y="3057860"/>
            <a:ext cx="6147197" cy="168559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543175" y="3061432"/>
            <a:ext cx="6140053" cy="1678446"/>
          </a:xfrm>
          <a:prstGeom prst="roundRect">
            <a:avLst>
              <a:gd name="adj" fmla="val 7945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2661047" y="317930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25" dirty="0"/>
          </a:p>
        </p:txBody>
      </p:sp>
      <p:sp>
        <p:nvSpPr>
          <p:cNvPr id="44" name="Text 36"/>
          <p:cNvSpPr/>
          <p:nvPr/>
        </p:nvSpPr>
        <p:spPr>
          <a:xfrm>
            <a:off x="8098691" y="3215594"/>
            <a:ext cx="484614" cy="156020"/>
          </a:xfrm>
          <a:prstGeom prst="roundRect">
            <a:avLst>
              <a:gd name="adj" fmla="val 60988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8116639" y="3223952"/>
            <a:ext cx="44871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spc="41" kern="0" dirty="0">
                <a:solidFill>
                  <a:srgbClr val="42B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ПЕРЕВОД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2661047" y="3465054"/>
            <a:ext cx="590430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Двунаправленный перевод</a:t>
            </a:r>
            <a:endParaRPr lang="en-US" sz="1013" dirty="0"/>
          </a:p>
        </p:txBody>
      </p:sp>
      <p:sp>
        <p:nvSpPr>
          <p:cNvPr id="47" name="Text 39"/>
          <p:cNvSpPr/>
          <p:nvPr/>
        </p:nvSpPr>
        <p:spPr>
          <a:xfrm>
            <a:off x="2661047" y="3668650"/>
            <a:ext cx="59043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Две модели Xenova/opus-mt (ru→en и en→ru, по 108 МБ) грузятся параллельно при открытии страницы. Автоопределение направления по наличию кириллицы. Кнопка Swap ⇄ переставляет input↔output и переключает активную модель.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403622"/>
            <a:ext cx="1531553" cy="182166"/>
          </a:xfrm>
          <a:prstGeom prst="roundRect">
            <a:avLst>
              <a:gd name="adj" fmla="val 5223519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538697" cy="219027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ПЕРЕВОДЧИК · HOW IT WORKS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457200" y="646509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секций + викторина про MarianMT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55030"/>
            <a:ext cx="8636000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Клик по карточке примера → автозапуск перевода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13545"/>
            <a:ext cx="4657167" cy="2776798"/>
          </a:xfrm>
          <a:prstGeom prst="roundRect">
            <a:avLst>
              <a:gd name="adj" fmla="val 34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94A3B8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213545"/>
            <a:ext cx="4657167" cy="157163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8638" y="1263551"/>
            <a:ext cx="57150" cy="57150"/>
          </a:xfrm>
          <a:prstGeom prst="ellipse">
            <a:avLst/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263551"/>
            <a:ext cx="57150" cy="57150"/>
          </a:xfrm>
          <a:prstGeom prst="ellipse">
            <a:avLst/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4375" y="1263551"/>
            <a:ext cx="57150" cy="57150"/>
          </a:xfrm>
          <a:prstGeom prst="ellipse">
            <a:avLst/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8681" y="1224260"/>
            <a:ext cx="4164248" cy="135731"/>
          </a:xfrm>
          <a:prstGeom prst="roundRect">
            <a:avLst>
              <a:gd name="adj" fmla="val 280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78681" y="1224260"/>
            <a:ext cx="4164248" cy="146447"/>
          </a:xfrm>
          <a:prstGeom prst="rect">
            <a:avLst/>
          </a:prstGeom>
          <a:noFill/>
          <a:ln/>
        </p:spPr>
        <p:txBody>
          <a:bodyPr wrap="square" lIns="57150" tIns="14288" rIns="57150" bIns="14288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localhost:5173/translator?tab=how</a:t>
            </a:r>
            <a:endParaRPr lang="en-US" sz="800" dirty="0"/>
          </a:p>
        </p:txBody>
      </p:sp>
      <p:pic>
        <p:nvPicPr>
          <p:cNvPr id="13" name="Image 0" descr="/tmp/h2p-fit-1792022068745-4qrr6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0707"/>
            <a:ext cx="4657167" cy="261963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317964" y="1217116"/>
            <a:ext cx="3365264" cy="573509"/>
          </a:xfrm>
          <a:prstGeom prst="roundRect">
            <a:avLst>
              <a:gd name="adj" fmla="val 1660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5120" y="1309985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21548" y="130641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721586" y="1306413"/>
            <a:ext cx="285805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секций контента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21586" y="1452860"/>
            <a:ext cx="285805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Модель · Что хорошо · Что плохо · Технические особенности · Эксперименты · Викторина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17964" y="1869207"/>
            <a:ext cx="3365264" cy="449275"/>
          </a:xfrm>
          <a:prstGeom prst="roundRect">
            <a:avLst>
              <a:gd name="adj" fmla="val 21201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25120" y="1962076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421548" y="1958504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721586" y="1958504"/>
            <a:ext cx="285805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Примеры с автозапуском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21586" y="2104951"/>
            <a:ext cx="2858058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Клик по карточке примера → автозапуск перевода в демо-вкладке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5317964" y="2397063"/>
            <a:ext cx="3365264" cy="449275"/>
          </a:xfrm>
          <a:prstGeom prst="roundRect">
            <a:avLst>
              <a:gd name="adj" fmla="val 21201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25120" y="2489932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21548" y="2486360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721586" y="2486360"/>
            <a:ext cx="285805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Викторина про MarianMT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21586" y="2632807"/>
            <a:ext cx="2858058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вопроса с подсветкой правильных/неправильных, прогресс в Pinia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5317964" y="2924919"/>
            <a:ext cx="3365264" cy="573509"/>
          </a:xfrm>
          <a:prstGeom prst="roundRect">
            <a:avLst>
              <a:gd name="adj" fmla="val 16608"/>
            </a:avLst>
          </a:prstGeom>
          <a:solidFill>
            <a:srgbClr val="131A2E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25120" y="3017788"/>
            <a:ext cx="207169" cy="207169"/>
          </a:xfrm>
          <a:prstGeom prst="roundRect">
            <a:avLst>
              <a:gd name="adj" fmla="val 36782"/>
            </a:avLst>
          </a:prstGeom>
          <a:solidFill>
            <a:srgbClr val="42B883">
              <a:alpha val="10000"/>
            </a:srgbClr>
          </a:solidFill>
          <a:ln w="7144">
            <a:solidFill>
              <a:srgbClr val="42B88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421548" y="3014216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42B88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21586" y="3014216"/>
            <a:ext cx="285805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Тэги текстов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21586" y="3160663"/>
            <a:ext cx="2858058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Цветные теги категорий: ЛИНГВИСТИЧЕСКИЙ (синий), ИРОНИЧНЫЙ (розовый), ФИЛОСОФСКИЙ (фиолетовый)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17964" y="4418409"/>
            <a:ext cx="3365264" cy="321469"/>
          </a:xfrm>
          <a:prstGeom prst="roundRect">
            <a:avLst>
              <a:gd name="adj" fmla="val 29630"/>
            </a:avLst>
          </a:prstGeom>
          <a:solidFill>
            <a:srgbClr val="0F172A">
              <a:alpha val="60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421548" y="4520208"/>
            <a:ext cx="50073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KeepAlive</a:t>
            </a:r>
            <a:endParaRPr lang="en-US" sz="619" dirty="0"/>
          </a:p>
        </p:txBody>
      </p:sp>
      <p:sp>
        <p:nvSpPr>
          <p:cNvPr id="36" name="Text 33"/>
          <p:cNvSpPr/>
          <p:nvPr/>
        </p:nvSpPr>
        <p:spPr>
          <a:xfrm>
            <a:off x="5889241" y="4493419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992437" y="4520208"/>
            <a:ext cx="35925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Pinia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300229" y="4493419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413302" y="4520208"/>
            <a:ext cx="216634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секций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8691"/>
            <a:ext cx="1107571" cy="212027"/>
          </a:xfrm>
          <a:prstGeom prst="roundRect">
            <a:avLst>
              <a:gd name="adj" fmla="val 4487860"/>
            </a:avLst>
          </a:prstGeom>
          <a:solidFill>
            <a:srgbClr val="22D3EE">
              <a:alpha val="10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106185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— ДОКУМЕНТАЦИЯ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6509"/>
            <a:ext cx="8636000" cy="32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34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файлов для студента и преподавателя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57200" y="1003697"/>
            <a:ext cx="822960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README + HOWTO + 16 задач TODO + решения HOWTODO + список новых фич + обход новых фич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7970"/>
            <a:ext cx="2676451" cy="13569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772" y="1261542"/>
            <a:ext cx="2669307" cy="1349834"/>
          </a:xfrm>
          <a:prstGeom prst="roundRect">
            <a:avLst>
              <a:gd name="adj" fmla="val 987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8644" y="137941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2493159" y="1424062"/>
            <a:ext cx="6034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731" dirty="0"/>
          </a:p>
        </p:txBody>
      </p:sp>
      <p:sp>
        <p:nvSpPr>
          <p:cNvPr id="10" name="Text 7"/>
          <p:cNvSpPr/>
          <p:nvPr/>
        </p:nvSpPr>
        <p:spPr>
          <a:xfrm>
            <a:off x="578644" y="1665163"/>
            <a:ext cx="24335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Описание для GitHub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8644" y="1865188"/>
            <a:ext cx="24335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это, как запустить, какие модели используются, скриншоты.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663" y="1257970"/>
            <a:ext cx="2676562" cy="13569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37235" y="1261542"/>
            <a:ext cx="2669418" cy="1349834"/>
          </a:xfrm>
          <a:prstGeom prst="roundRect">
            <a:avLst>
              <a:gd name="adj" fmla="val 987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355107" y="137941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5327816" y="1424062"/>
            <a:ext cx="535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HOWTO.md</a:t>
            </a:r>
            <a:endParaRPr lang="en-US" sz="731" dirty="0"/>
          </a:p>
        </p:txBody>
      </p:sp>
      <p:sp>
        <p:nvSpPr>
          <p:cNvPr id="16" name="Text 12"/>
          <p:cNvSpPr/>
          <p:nvPr/>
        </p:nvSpPr>
        <p:spPr>
          <a:xfrm>
            <a:off x="3355107" y="1665163"/>
            <a:ext cx="2543403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Проход по основному приложению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55107" y="1865188"/>
            <a:ext cx="2433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Пошаговый разбор Хаба, Детектора и Переводчика для студента.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38" y="1257970"/>
            <a:ext cx="2676451" cy="13569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13810" y="1261542"/>
            <a:ext cx="2669307" cy="1349834"/>
          </a:xfrm>
          <a:prstGeom prst="roundRect">
            <a:avLst>
              <a:gd name="adj" fmla="val 987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131682" y="137941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1" name="Text 16"/>
          <p:cNvSpPr/>
          <p:nvPr/>
        </p:nvSpPr>
        <p:spPr>
          <a:xfrm>
            <a:off x="8162416" y="1424062"/>
            <a:ext cx="4675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TODO.md</a:t>
            </a:r>
            <a:endParaRPr lang="en-US" sz="731" dirty="0"/>
          </a:p>
        </p:txBody>
      </p:sp>
      <p:sp>
        <p:nvSpPr>
          <p:cNvPr id="22" name="Text 17"/>
          <p:cNvSpPr/>
          <p:nvPr/>
        </p:nvSpPr>
        <p:spPr>
          <a:xfrm>
            <a:off x="6131682" y="1665163"/>
            <a:ext cx="24335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 задач для студентов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131682" y="1865188"/>
            <a:ext cx="24335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Учебные задания на доработку интерфейса, новых фичей и UX-улучшений.</a:t>
            </a:r>
            <a:endParaRPr lang="en-US" sz="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14960"/>
            <a:ext cx="2676451" cy="135697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0772" y="2718532"/>
            <a:ext cx="2669307" cy="1349834"/>
          </a:xfrm>
          <a:prstGeom prst="roundRect">
            <a:avLst>
              <a:gd name="adj" fmla="val 987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78644" y="283640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125" dirty="0"/>
          </a:p>
        </p:txBody>
      </p:sp>
      <p:sp>
        <p:nvSpPr>
          <p:cNvPr id="27" name="Text 21"/>
          <p:cNvSpPr/>
          <p:nvPr/>
        </p:nvSpPr>
        <p:spPr>
          <a:xfrm>
            <a:off x="2435022" y="2881052"/>
            <a:ext cx="6713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HOWTODO.md</a:t>
            </a:r>
            <a:endParaRPr lang="en-US" sz="731" dirty="0"/>
          </a:p>
        </p:txBody>
      </p:sp>
      <p:sp>
        <p:nvSpPr>
          <p:cNvPr id="28" name="Text 22"/>
          <p:cNvSpPr/>
          <p:nvPr/>
        </p:nvSpPr>
        <p:spPr>
          <a:xfrm>
            <a:off x="578644" y="3122154"/>
            <a:ext cx="254329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Решения для преподавателя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78644" y="3322179"/>
            <a:ext cx="24335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Эталонные решения задач из TODO.md — только для преподавателя.</a:t>
            </a:r>
            <a:endParaRPr lang="en-US" sz="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663" y="2714960"/>
            <a:ext cx="2676562" cy="135697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237235" y="2718532"/>
            <a:ext cx="2669418" cy="1349834"/>
          </a:xfrm>
          <a:prstGeom prst="roundRect">
            <a:avLst>
              <a:gd name="adj" fmla="val 987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355107" y="283640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3" name="Text 26"/>
          <p:cNvSpPr/>
          <p:nvPr/>
        </p:nvSpPr>
        <p:spPr>
          <a:xfrm>
            <a:off x="5064361" y="2881052"/>
            <a:ext cx="7244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NEW_FEATURES.md</a:t>
            </a:r>
            <a:endParaRPr lang="en-US" sz="731" dirty="0"/>
          </a:p>
        </p:txBody>
      </p:sp>
      <p:sp>
        <p:nvSpPr>
          <p:cNvPr id="34" name="Text 27"/>
          <p:cNvSpPr/>
          <p:nvPr/>
        </p:nvSpPr>
        <p:spPr>
          <a:xfrm>
            <a:off x="3355107" y="3122154"/>
            <a:ext cx="243367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нового в solutions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3355107" y="3322179"/>
            <a:ext cx="2433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Список отличий ветки solutions от main: степпер, скелетоны, шторка, EN/RU, история.</a:t>
            </a:r>
            <a:endParaRPr lang="en-US" sz="8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0238" y="2714960"/>
            <a:ext cx="2676451" cy="135697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013810" y="2718532"/>
            <a:ext cx="2669307" cy="1349834"/>
          </a:xfrm>
          <a:prstGeom prst="roundRect">
            <a:avLst>
              <a:gd name="adj" fmla="val 9879"/>
            </a:avLst>
          </a:prstGeom>
          <a:noFill/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6131682" y="2836404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2B88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  <p:sp>
        <p:nvSpPr>
          <p:cNvPr id="39" name="Text 31"/>
          <p:cNvSpPr/>
          <p:nvPr/>
        </p:nvSpPr>
        <p:spPr>
          <a:xfrm>
            <a:off x="7551055" y="2881052"/>
            <a:ext cx="10141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15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HOWTO_NEW_FEATURES.md</a:t>
            </a:r>
            <a:endParaRPr lang="en-US" sz="731" dirty="0"/>
          </a:p>
        </p:txBody>
      </p:sp>
      <p:sp>
        <p:nvSpPr>
          <p:cNvPr id="40" name="Text 32"/>
          <p:cNvSpPr/>
          <p:nvPr/>
        </p:nvSpPr>
        <p:spPr>
          <a:xfrm>
            <a:off x="6131682" y="3122154"/>
            <a:ext cx="243356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Обход новых фич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6131682" y="3322179"/>
            <a:ext cx="24335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Пошаговый разбор каждой новой фичи: где живёт код, как работает, как тестировать.</a:t>
            </a:r>
            <a:endParaRPr lang="en-US" sz="800" dirty="0"/>
          </a:p>
        </p:txBody>
      </p:sp>
      <p:sp>
        <p:nvSpPr>
          <p:cNvPr id="42" name="Text 34"/>
          <p:cNvSpPr/>
          <p:nvPr/>
        </p:nvSpPr>
        <p:spPr>
          <a:xfrm>
            <a:off x="460772" y="4175522"/>
            <a:ext cx="8222456" cy="564356"/>
          </a:xfrm>
          <a:prstGeom prst="roundRect">
            <a:avLst>
              <a:gd name="adj" fmla="val 20253"/>
            </a:avLst>
          </a:prstGeom>
          <a:solidFill>
            <a:srgbClr val="1A2340"/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635794" y="4307681"/>
            <a:ext cx="593333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b="1" spc="-16" kern="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Спасибо за внимание</a:t>
            </a:r>
            <a:endParaRPr lang="en-US" sz="1575" dirty="0"/>
          </a:p>
        </p:txBody>
      </p:sp>
      <p:sp>
        <p:nvSpPr>
          <p:cNvPr id="44" name="Text 36"/>
          <p:cNvSpPr/>
          <p:nvPr/>
        </p:nvSpPr>
        <p:spPr>
          <a:xfrm>
            <a:off x="6506581" y="4393406"/>
            <a:ext cx="20016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675" spc="27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· npm run setup · npm run dev</a:t>
            </a:r>
            <a:endParaRPr lang="en-US" sz="675" dirty="0"/>
          </a:p>
        </p:txBody>
      </p:sp>
      <p:sp>
        <p:nvSpPr>
          <p:cNvPr id="45" name="Text 37"/>
          <p:cNvSpPr/>
          <p:nvPr/>
        </p:nvSpPr>
        <p:spPr>
          <a:xfrm>
            <a:off x="8653318" y="142875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2026-10-14T23:54:29Z</dcterms:created>
  <dcterms:modified xsi:type="dcterms:W3CDTF">2026-10-14T23:54:29Z</dcterms:modified>
</cp:coreProperties>
</file>